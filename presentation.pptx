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6366F1"/>
                </a:solidFill>
                <a:latin typeface="Segoe UI"/>
              </a:defRPr>
            </a:pPr>
            <a:r>
              <a:t>HireAI</a:t>
            </a:r>
          </a:p>
          <a:p>
            <a:pPr>
              <a:defRPr sz="2400">
                <a:solidFill>
                  <a:srgbClr val="FFFFFF"/>
                </a:solidFill>
                <a:latin typeface="Segoe UI"/>
              </a:defRPr>
            </a:pPr>
            <a:r>
              <a:t>AI-Powered Candidate Ranking &amp; Semantic Alignment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b="1" sz="1600">
                <a:solidFill>
                  <a:srgbClr val="64748B"/>
                </a:solidFill>
              </a:rPr>
              <a:t>Project Name: </a:t>
            </a:r>
            <a:r>
              <a:rPr sz="1600">
                <a:solidFill>
                  <a:srgbClr val="FFFFFF"/>
                </a:solidFill>
              </a:rPr>
              <a:t>HireAI</a:t>
            </a:r>
          </a:p>
          <a:p>
            <a:r>
              <a:rPr b="1" sz="1600">
                <a:solidFill>
                  <a:srgbClr val="64748B"/>
                </a:solidFill>
              </a:rPr>
              <a:t>Hackathon Track: </a:t>
            </a:r>
            <a:r>
              <a:rPr sz="1600">
                <a:solidFill>
                  <a:srgbClr val="FFFFFF"/>
                </a:solidFill>
              </a:rPr>
              <a:t>INDIA.RUNS (redrob | H2S)</a:t>
            </a:r>
          </a:p>
          <a:p>
            <a:r>
              <a:rPr b="1" sz="1600">
                <a:solidFill>
                  <a:srgbClr val="64748B"/>
                </a:solidFill>
              </a:rPr>
              <a:t>Developer: </a:t>
            </a:r>
            <a:r>
              <a:rPr sz="1600">
                <a:solidFill>
                  <a:srgbClr val="FFFFFF"/>
                </a:solidFill>
              </a:rPr>
              <a:t>Solo Participant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828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6366F1"/>
                </a:solidFill>
                <a:latin typeface="Segoe UI"/>
              </a:defRPr>
            </a:pPr>
            <a:r>
              <a:t>redrob | H2S | INDIA.RUNS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366F1"/>
                </a:solidFill>
              </a:defRPr>
            </a:pPr>
            <a:r>
              <a:t>What is your proposed solution?</a:t>
            </a:r>
          </a:p>
          <a:p>
            <a:pPr>
              <a:spcAft>
                <a:spcPts val="2000"/>
              </a:spcAft>
              <a:defRPr sz="1600">
                <a:solidFill>
                  <a:srgbClr val="0F172A"/>
                </a:solidFill>
              </a:defRPr>
            </a:pPr>
            <a:r>
              <a:t>HireAI is a next-generation candidate matching and evaluation copilot for recruiters. It parses resumes and job descriptions, runs a weighted multi-signal ranking engine, identifies and visualizes skill gaps, and includes an interactive AI Copilot chat to dynamically query the candidate database.</a:t>
            </a:r>
          </a:p>
          <a:p>
            <a:pPr>
              <a:defRPr sz="2000" b="1">
                <a:solidFill>
                  <a:srgbClr val="6366F1"/>
                </a:solidFill>
              </a:defRPr>
            </a:pPr>
            <a:r>
              <a:t>What differentiates your approach from traditional candidate matching systems?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• Semantic Search vs. Keywords: Traditional systems rely on exact string matches. HireAI uses vector embeddings to match concepts and synonyms.</a:t>
            </a:r>
            <a:br/>
            <a:r>
              <a:t>• Interactive Explainability: Rather than a black-box score, recruiters can talk to the Copilot to get side-by-side candidate comparisons and explanations.</a:t>
            </a:r>
            <a:br/>
            <a:r>
              <a:t>• Visual Skill-Gap Analysis: Auto-highlights missing and matched skills with integrated visualizations.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JD Understanding &amp; Candidate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828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6366F1"/>
                </a:solidFill>
                <a:latin typeface="Segoe UI"/>
              </a:defRPr>
            </a:pPr>
            <a:r>
              <a:t>redrob | H2S | INDIA.RUNS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366F1"/>
                </a:solidFill>
              </a:defRPr>
            </a:pPr>
            <a:r>
              <a:t>What are the key requirements extracted from the JD?</a:t>
            </a:r>
          </a:p>
          <a:p>
            <a:pPr>
              <a:spcAft>
                <a:spcPts val="2000"/>
              </a:spcAft>
              <a:defRPr sz="1600">
                <a:solidFill>
                  <a:srgbClr val="0F172A"/>
                </a:solidFill>
              </a:defRPr>
            </a:pPr>
            <a:r>
              <a:t>• Required &amp; Preferred Skills: Automatically parsed to construct target lists.</a:t>
            </a:r>
            <a:br/>
            <a:r>
              <a:t>• Experience Thresholds: Minimum and maximum years of experience extracted to calculate constraints.</a:t>
            </a:r>
            <a:br/>
            <a:r>
              <a:t>• Contextual Raw Text: Sent to the embedding engine to capture implicit responsibilities.</a:t>
            </a:r>
          </a:p>
          <a:p>
            <a:pPr>
              <a:defRPr sz="2000" b="1">
                <a:solidFill>
                  <a:srgbClr val="6366F1"/>
                </a:solidFill>
              </a:defRPr>
            </a:pPr>
            <a:r>
              <a:t>Which candidate signals are most important? How does the solution go beyond keywords?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• Cosine Similarity (45%): Dense vectors encode candidates' summaries, experience, and projects. Cosine similarity calculates deep contextual fit.</a:t>
            </a:r>
            <a:br/>
            <a:r>
              <a:t>• Fuzzy Skill Alignment (25%): Uses token-sort ratio algorithms (RapidFuzz) to align candidate skills with JD requirements, matching spelling variants (e.g., 'ReactJS' vs 'React').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Ranking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828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6366F1"/>
                </a:solidFill>
                <a:latin typeface="Segoe UI"/>
              </a:defRPr>
            </a:pPr>
            <a:r>
              <a:t>redrob | H2S | INDIA.RUNS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How does the system retrieve, score, and rank candidates?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Resumes are parsed via pdfplumber. Profiles are compiled into structured SQLite tables. When a JD is activated, the ranking engine runs locally, scoring every candidate against the JD across four pillars, storing the results in database tables to immediately serve a React frontend leaderboard.</a:t>
            </a:r>
          </a:p>
          <a:p>
            <a:pPr>
              <a:defRPr sz="1800" b="1">
                <a:solidFill>
                  <a:srgbClr val="6366F1"/>
                </a:solidFill>
              </a:defRPr>
            </a:pPr>
            <a:r>
              <a:t>What models, algorithms, or heuristics are used?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• Model: Hugging Face 'all-MiniLM-L6-v2' SentenceTransformer (384-dimensional embeddings).</a:t>
            </a:r>
            <a:br/>
            <a:r>
              <a:t>• Fuzzy Algorithm: RapidFuzz Levenshtein string matching for skills.</a:t>
            </a:r>
            <a:br/>
            <a:r>
              <a:t>• Heuristics: Boundary penalty calculations for experience ranges &amp; score mappings for behavioral parameters.</a:t>
            </a:r>
          </a:p>
          <a:p>
            <a:pPr>
              <a:defRPr sz="1800" b="1">
                <a:solidFill>
                  <a:srgbClr val="6366F1"/>
                </a:solidFill>
              </a:defRPr>
            </a:pPr>
            <a:r>
              <a:t>How are multiple candidate signals combined into a final ranking?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Through a composite weighted scoring formula:</a:t>
            </a:r>
            <a:br/>
            <a:r>
              <a:t>Final Score = (Semantic Similarity * 45%) + (Fuzzy Skill Match * 25%) + (Behavioral Score * 20%) + (Experience Match * 10%)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Explainability &amp; Data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828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6366F1"/>
                </a:solidFill>
                <a:latin typeface="Segoe UI"/>
              </a:defRPr>
            </a:pPr>
            <a:r>
              <a:t>redrob | H2S | INDIA.RUNS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366F1"/>
                </a:solidFill>
              </a:defRPr>
            </a:pPr>
            <a:r>
              <a:t>How are ranking decisions explained? How do you prevent hallucinations?</a:t>
            </a:r>
          </a:p>
          <a:p>
            <a:pPr>
              <a:spcAft>
                <a:spcPts val="2000"/>
              </a:spcAft>
              <a:defRPr sz="1600">
                <a:solidFill>
                  <a:srgbClr val="0F172A"/>
                </a:solidFill>
              </a:defRPr>
            </a:pPr>
            <a:r>
              <a:t>• Ground-Truth Explanations: Explainability does not rely on LLM prompts that can hallucinate. Instead, it queries the SQLite DB for actual computed sub-scores, matched skills, and missing skills to display precise bulleted strengths.</a:t>
            </a:r>
            <a:br/>
            <a:r>
              <a:t>• Chat Verification: Copilot reports exact database values in markdown comparisons (e.g. 'Priya has 95% semantic match while Sofia has 55%').</a:t>
            </a:r>
          </a:p>
          <a:p>
            <a:pPr>
              <a:defRPr sz="2000" b="1">
                <a:solidFill>
                  <a:srgbClr val="6366F1"/>
                </a:solidFill>
              </a:defRPr>
            </a:pPr>
            <a:r>
              <a:t>How does your solution handle inconsistent or low-quality profiles?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• Profile Completeness: Evaluates completeness based on missing critical fields (summary, history, education, projects).</a:t>
            </a:r>
            <a:br/>
            <a:r>
              <a:t>• Safe Fallbacks: Gracefully handles empty fields and JSON arrays, enabling ranking computations to run even with partially corrupted or low-text resume uploads.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End-to-End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828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6366F1"/>
                </a:solidFill>
                <a:latin typeface="Segoe UI"/>
              </a:defRPr>
            </a:pPr>
            <a:r>
              <a:t>redrob | H2S | INDIA.RUNS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6366F1"/>
                </a:solidFill>
              </a:defRPr>
            </a:pPr>
            <a:r>
              <a:t>Workflow Architecture: From JD Input to Leaderboard Export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1. Upload JD: The recruiter pastes a job description. The FastAPI backend parses the required skills and experience thresholds.</a:t>
            </a:r>
            <a:br/>
            <a:br/>
            <a:r>
              <a:t>2. Parse Resumes: The recruiter uploads PDF/DOCX resumes. The text is parsed via pdfplumber and structured into SQLite database entries.</a:t>
            </a:r>
            <a:br/>
            <a:br/>
            <a:r>
              <a:t>3. Compute Vector Embeddings: The profile texts are converted into 384-dimensional dense vectors via the SentenceTransformer engine.</a:t>
            </a:r>
            <a:br/>
            <a:br/>
            <a:r>
              <a:t>4. Execute Ranking: The Weighted Composite Engine runs in sub-seconds to compute Semantic, Skill, Experience, and Behavioral metrics.</a:t>
            </a:r>
            <a:br/>
            <a:br/>
            <a:r>
              <a:t>5. Review &amp; Export: The recruiter views the ranked leaderboard, reviews missing skills on the visual dashboard, chats with the Copilot, and exports candidates as a CSV file.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828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6366F1"/>
                </a:solidFill>
                <a:latin typeface="Segoe UI"/>
              </a:defRPr>
            </a:pPr>
            <a:r>
              <a:t>redrob | H2S | INDIA.RUNS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6366F1"/>
                </a:solidFill>
              </a:defRPr>
            </a:pPr>
            <a:r>
              <a:t>Technology Stack &amp; Layered Design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• Frontend Presentation Layer: Developed in React.js and TypeScript, optimized with Vite for hot-reloads. Recharts handles interactive visualizations (KPI dashboard, candidate match graphs). Styling is built with Tailwind CSS v4.</a:t>
            </a:r>
            <a:br/>
            <a:br/>
            <a:r>
              <a:t>• Backend Logic Layer: Built with FastAPI (Python) for asynchronous endpoints. Integrates SQLAlchemy ORM to manage SQLite data schemas.</a:t>
            </a:r>
            <a:br/>
            <a:br/>
            <a:r>
              <a:t>• Machine Learning &amp; Match Layer: Local inference using Hugging Face Sentence Transformers (all-MiniLM-L6-v2) for semantic vector alignments. RapidFuzz handles string distance ratio calculations.</a:t>
            </a:r>
            <a:br/>
            <a:br/>
            <a:r>
              <a:t>• Hosting &amp; Infrastructure: Deployed live via Render web services, featuring a containerized Docker build that pre-caches models to ensure sub-second startup.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Results &amp;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828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6366F1"/>
                </a:solidFill>
                <a:latin typeface="Segoe UI"/>
              </a:defRPr>
            </a:pPr>
            <a:r>
              <a:t>redrob | H2S | INDIA.RUNS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366F1"/>
                </a:solidFill>
              </a:defRPr>
            </a:pPr>
            <a:r>
              <a:t>What results or insights demonstrate ranking quality?</a:t>
            </a:r>
          </a:p>
          <a:p>
            <a:pPr>
              <a:spcAft>
                <a:spcPts val="2000"/>
              </a:spcAft>
              <a:defRPr sz="1600">
                <a:solidFill>
                  <a:srgbClr val="0F172A"/>
                </a:solidFill>
              </a:defRPr>
            </a:pPr>
            <a:r>
              <a:t>• Synonyms Matching: Demonstrates that candidate alignment scores correctly identify conceptual fits (e.g. matching NLP experience to LLMs) where keyword-based ATS fail.</a:t>
            </a:r>
            <a:br/>
            <a:r>
              <a:t>• Holistic Ranking: The composite weighted metric ensures candidates with strong profiles and high response rates outrank inactive or slightly over-qualified candidates, reflecting real-world recruitment criteria.</a:t>
            </a:r>
          </a:p>
          <a:p>
            <a:pPr>
              <a:defRPr sz="2000" b="1">
                <a:solidFill>
                  <a:srgbClr val="6366F1"/>
                </a:solidFill>
              </a:defRPr>
            </a:pPr>
            <a:r>
              <a:t>How does your solution meet the challenge's runtime and compute constraints?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• Pre-caching Models: Docker image pre-caches MiniLM-L6-v2 embeddings, removing download latency during cold starts.</a:t>
            </a:r>
            <a:br/>
            <a:r>
              <a:t>• Sub-second Execution: Local inference and fuzzy calculations are completed in &lt;500ms for dozens of profiles, meeting strict real-time constraint limits.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